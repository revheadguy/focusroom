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Fira Sans Condensed Light"/>
      <p:regular r:id="rId19"/>
      <p:bold r:id="rId20"/>
      <p:italic r:id="rId21"/>
      <p:boldItalic r:id="rId22"/>
    </p:embeddedFont>
    <p:embeddedFont>
      <p:font typeface="Fira Sans Condensed"/>
      <p:regular r:id="rId23"/>
      <p:bold r:id="rId24"/>
      <p:italic r:id="rId25"/>
      <p:boldItalic r:id="rId26"/>
    </p:embeddedFont>
    <p:embeddedFont>
      <p:font typeface="Rajdhani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CondensedLight-bold.fntdata"/><Relationship Id="rId22" Type="http://schemas.openxmlformats.org/officeDocument/2006/relationships/font" Target="fonts/FiraSansCondensedLight-boldItalic.fntdata"/><Relationship Id="rId21" Type="http://schemas.openxmlformats.org/officeDocument/2006/relationships/font" Target="fonts/FiraSansCondensedLight-italic.fntdata"/><Relationship Id="rId24" Type="http://schemas.openxmlformats.org/officeDocument/2006/relationships/font" Target="fonts/FiraSansCondensed-bold.fntdata"/><Relationship Id="rId23" Type="http://schemas.openxmlformats.org/officeDocument/2006/relationships/font" Target="fonts/FiraSansCondense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Condensed-boldItalic.fntdata"/><Relationship Id="rId25" Type="http://schemas.openxmlformats.org/officeDocument/2006/relationships/font" Target="fonts/FiraSansCondensed-italic.fntdata"/><Relationship Id="rId28" Type="http://schemas.openxmlformats.org/officeDocument/2006/relationships/font" Target="fonts/Rajdhani-bold.fntdata"/><Relationship Id="rId27" Type="http://schemas.openxmlformats.org/officeDocument/2006/relationships/font" Target="fonts/Rajdhani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FiraSansCondensedLigh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006d0d0a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b006d0d0a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b006d0d0a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b006d0d0a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b006d0d0a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b006d0d0a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006d0d0a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b006d0d0a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006d0d0a_2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b006d0d0a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b006d0d0a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fb006d0d0a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006d0d0a_2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b006d0d0a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006d0d0a_2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fb006d0d0a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b006d0d0a_2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b006d0d0a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006d0d0a_2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fb006d0d0a_2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006d0d0a_2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b006d0d0a_2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b006d0d0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b006d0d0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1115100" y="1152475"/>
            <a:ext cx="6913800" cy="3456000"/>
          </a:xfrm>
          <a:prstGeom prst="rect">
            <a:avLst/>
          </a:prstGeom>
          <a:solidFill>
            <a:schemeClr val="dk1">
              <a:alpha val="56863"/>
            </a:scheme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9pPr>
          </a:lstStyle>
          <a:p/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 txBox="1"/>
          <p:nvPr>
            <p:ph idx="1" type="subTitle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800">
                <a:latin typeface="Rajdhani"/>
                <a:ea typeface="Rajdhani"/>
                <a:cs typeface="Rajdhani"/>
                <a:sym typeface="Rajdha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2" type="subTitle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3" type="subTitle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800">
                <a:latin typeface="Rajdhani"/>
                <a:ea typeface="Rajdhani"/>
                <a:cs typeface="Rajdhani"/>
                <a:sym typeface="Rajdha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b="1" sz="1400"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4" type="subTitle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/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1"/>
          <p:cNvSpPr txBox="1"/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title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2"/>
          <p:cNvSpPr txBox="1"/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b="1" i="0" sz="2800" u="none" cap="none" strike="noStrik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b="0" i="0" sz="1200" u="none" cap="none" strike="noStrik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ctrTitle"/>
          </p:nvPr>
        </p:nvSpPr>
        <p:spPr>
          <a:xfrm>
            <a:off x="3817400" y="-82275"/>
            <a:ext cx="4613100" cy="29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FocusRoom</a:t>
            </a:r>
            <a:endParaRPr sz="5000"/>
          </a:p>
        </p:txBody>
      </p:sp>
      <p:sp>
        <p:nvSpPr>
          <p:cNvPr id="99" name="Google Shape;99;p25"/>
          <p:cNvSpPr txBox="1"/>
          <p:nvPr>
            <p:ph idx="1" type="subTitle"/>
          </p:nvPr>
        </p:nvSpPr>
        <p:spPr>
          <a:xfrm>
            <a:off x="3978200" y="2637888"/>
            <a:ext cx="429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AI-Powered Productivity Operating System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0" name="Google Shape;100;p25"/>
          <p:cNvPicPr preferRelativeResize="0"/>
          <p:nvPr/>
        </p:nvPicPr>
        <p:blipFill rotWithShape="1">
          <a:blip r:embed="rId4">
            <a:alphaModFix/>
          </a:blip>
          <a:srcRect b="0" l="25303" r="25298" t="0"/>
          <a:stretch/>
        </p:blipFill>
        <p:spPr>
          <a:xfrm>
            <a:off x="767950" y="978400"/>
            <a:ext cx="3049450" cy="347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720000" y="270500"/>
            <a:ext cx="77040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Problem Statement</a:t>
            </a:r>
            <a:endParaRPr sz="3000"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1115100" y="965200"/>
            <a:ext cx="6913800" cy="3849600"/>
          </a:xfrm>
          <a:prstGeom prst="rect">
            <a:avLst/>
          </a:prstGeom>
          <a:solidFill>
            <a:schemeClr val="dk1">
              <a:alpha val="56863"/>
            </a:scheme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Fira Sans Condensed"/>
              <a:buChar char="●"/>
            </a:pP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Too many disconnected workflows</a:t>
            </a: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— tasks, notes, memories, planning, and reminders are handled separately.</a:t>
            </a:r>
            <a:endParaRPr sz="1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Fira Sans Condensed"/>
              <a:buChar char="●"/>
            </a:pP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🧠 </a:t>
            </a:r>
            <a:r>
              <a:rPr b="1"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Lack of context</a:t>
            </a: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— traditional task managers don't remember user preferences or working habits.</a:t>
            </a:r>
            <a:endParaRPr sz="1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Fira Sans Condensed"/>
              <a:buChar char="●"/>
            </a:pP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🎯 </a:t>
            </a:r>
            <a:r>
              <a:rPr b="1"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Manual prioritization</a:t>
            </a: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— users still need to decide what to work on first.</a:t>
            </a:r>
            <a:endParaRPr sz="1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Fira Sans Condensed"/>
              <a:buChar char="●"/>
            </a:pP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📅 </a:t>
            </a:r>
            <a:r>
              <a:rPr b="1"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Time-consuming planning</a:t>
            </a: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— creating a realistic daily schedule requires manual effort.</a:t>
            </a:r>
            <a:endParaRPr sz="1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Fira Sans Condensed"/>
              <a:buChar char="●"/>
            </a:pP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🔔 </a:t>
            </a:r>
            <a:r>
              <a:rPr b="1"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Missed deadlines</a:t>
            </a: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— important tasks can be forgotten without timely reminders.</a:t>
            </a:r>
            <a:endParaRPr sz="1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Fira Sans Condensed"/>
              <a:buChar char="●"/>
            </a:pP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🤖 </a:t>
            </a:r>
            <a:r>
              <a:rPr b="1"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Limited intelligent automation</a:t>
            </a:r>
            <a:r>
              <a:rPr lang="en" sz="1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— conventional productivity tools don't coordinate multiple AI capabilities around a single request.</a:t>
            </a:r>
            <a:endParaRPr sz="1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/>
        </p:nvSpPr>
        <p:spPr>
          <a:xfrm>
            <a:off x="3072000" y="2165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Key Features </a:t>
            </a:r>
            <a:endParaRPr b="1" sz="300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12" name="Google Shape;112;p27"/>
          <p:cNvSpPr txBox="1"/>
          <p:nvPr/>
        </p:nvSpPr>
        <p:spPr>
          <a:xfrm>
            <a:off x="411975" y="863000"/>
            <a:ext cx="38964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📝 </a:t>
            </a:r>
            <a:r>
              <a:rPr b="1" lang="en" sz="1200">
                <a:solidFill>
                  <a:schemeClr val="lt2"/>
                </a:solidFill>
              </a:rPr>
              <a:t>Smart Task Management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Create, update, complete and delete tasks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Priority, status and due-date tracking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Identify pending and high-priority work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13" name="Google Shape;113;p27"/>
          <p:cNvSpPr txBox="1"/>
          <p:nvPr/>
        </p:nvSpPr>
        <p:spPr>
          <a:xfrm>
            <a:off x="4872975" y="863000"/>
            <a:ext cx="42708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🧠 </a:t>
            </a:r>
            <a:r>
              <a:rPr b="1" lang="en" sz="1200">
                <a:solidFill>
                  <a:schemeClr val="lt2"/>
                </a:solidFill>
              </a:rPr>
              <a:t>Persistent Memory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Store user preferences and context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Search relevant memories when needed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Personalize planning based on previous information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 flipH="1">
            <a:off x="411975" y="2119700"/>
            <a:ext cx="4461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📅 </a:t>
            </a:r>
            <a:r>
              <a:rPr b="1" lang="en" sz="1200">
                <a:solidFill>
                  <a:schemeClr val="lt2"/>
                </a:solidFill>
              </a:rPr>
              <a:t>AI Daily Planning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Combines tasks + memories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Prioritizes work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Generates </a:t>
            </a:r>
            <a:r>
              <a:rPr b="1" lang="en" sz="1200">
                <a:solidFill>
                  <a:schemeClr val="lt2"/>
                </a:solidFill>
              </a:rPr>
              <a:t>Morning / Afternoon / Evening</a:t>
            </a:r>
            <a:r>
              <a:rPr lang="en" sz="1200">
                <a:solidFill>
                  <a:schemeClr val="lt2"/>
                </a:solidFill>
              </a:rPr>
              <a:t> schedule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15" name="Google Shape;115;p27"/>
          <p:cNvSpPr txBox="1"/>
          <p:nvPr/>
        </p:nvSpPr>
        <p:spPr>
          <a:xfrm>
            <a:off x="4972875" y="2068225"/>
            <a:ext cx="39513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🤖 </a:t>
            </a:r>
            <a:r>
              <a:rPr b="1" lang="en" sz="1200">
                <a:solidFill>
                  <a:schemeClr val="lt2"/>
                </a:solidFill>
              </a:rPr>
              <a:t>Multi-Agent Assistant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Supervisor Agent</a:t>
            </a:r>
            <a:r>
              <a:rPr lang="en" sz="1200">
                <a:solidFill>
                  <a:schemeClr val="lt2"/>
                </a:solidFill>
              </a:rPr>
              <a:t> coordinates requests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Task Agent</a:t>
            </a:r>
            <a:r>
              <a:rPr lang="en" sz="1200">
                <a:solidFill>
                  <a:schemeClr val="lt2"/>
                </a:solidFill>
              </a:rPr>
              <a:t> manages tasks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Memory Agent</a:t>
            </a:r>
            <a:r>
              <a:rPr lang="en" sz="1200">
                <a:solidFill>
                  <a:schemeClr val="lt2"/>
                </a:solidFill>
              </a:rPr>
              <a:t> manages context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Planning Agent</a:t>
            </a:r>
            <a:r>
              <a:rPr lang="en" sz="1200">
                <a:solidFill>
                  <a:schemeClr val="lt2"/>
                </a:solidFill>
              </a:rPr>
              <a:t> creates schedules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Reminder Worker</a:t>
            </a:r>
            <a:r>
              <a:rPr lang="en" sz="1200">
                <a:solidFill>
                  <a:schemeClr val="lt2"/>
                </a:solidFill>
              </a:rPr>
              <a:t> handles notifications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16" name="Google Shape;116;p27"/>
          <p:cNvSpPr txBox="1"/>
          <p:nvPr/>
        </p:nvSpPr>
        <p:spPr>
          <a:xfrm>
            <a:off x="5047775" y="3662850"/>
            <a:ext cx="36246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📊 </a:t>
            </a:r>
            <a:r>
              <a:rPr b="1" lang="en" sz="1200">
                <a:solidFill>
                  <a:schemeClr val="lt2"/>
                </a:solidFill>
              </a:rPr>
              <a:t>AI &amp; MCP Telemetry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Prompt / completion / total token tracking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MCP request &amp; response bytes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Agent execution traces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411975" y="3376400"/>
            <a:ext cx="47106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🔌 </a:t>
            </a:r>
            <a:r>
              <a:rPr b="1" lang="en" sz="1200">
                <a:solidFill>
                  <a:schemeClr val="lt2"/>
                </a:solidFill>
              </a:rPr>
              <a:t>MCP Tool Integration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l</a:t>
            </a:r>
            <a:r>
              <a:rPr lang="en" sz="1200">
                <a:solidFill>
                  <a:schemeClr val="lt2"/>
                </a:solidFill>
              </a:rPr>
              <a:t>ist_tasks, create_task, update_task, complete_task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</a:t>
            </a:r>
            <a:r>
              <a:rPr lang="en" sz="1200">
                <a:solidFill>
                  <a:schemeClr val="lt2"/>
                </a:solidFill>
              </a:rPr>
              <a:t>earch_memory, save_memory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daily_plan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productivity_report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720000" y="253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Solution: What is FocusRoom? </a:t>
            </a:r>
            <a:endParaRPr/>
          </a:p>
        </p:txBody>
      </p:sp>
      <p:sp>
        <p:nvSpPr>
          <p:cNvPr id="123" name="Google Shape;123;p28"/>
          <p:cNvSpPr txBox="1"/>
          <p:nvPr/>
        </p:nvSpPr>
        <p:spPr>
          <a:xfrm>
            <a:off x="712800" y="913475"/>
            <a:ext cx="819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FocusRoom brings tasks, personal context, planning, and reminders together in one intelligent workspace. 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124" name="Google Shape;124;p28"/>
          <p:cNvSpPr txBox="1"/>
          <p:nvPr/>
        </p:nvSpPr>
        <p:spPr>
          <a:xfrm>
            <a:off x="574275" y="13857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How it works</a:t>
            </a:r>
            <a:endParaRPr b="1" sz="1500">
              <a:solidFill>
                <a:schemeClr val="lt2"/>
              </a:solidFill>
            </a:endParaRPr>
          </a:p>
        </p:txBody>
      </p:sp>
      <p:sp>
        <p:nvSpPr>
          <p:cNvPr id="125" name="Google Shape;125;p28"/>
          <p:cNvSpPr txBox="1"/>
          <p:nvPr/>
        </p:nvSpPr>
        <p:spPr>
          <a:xfrm flipH="1">
            <a:off x="649325" y="1770650"/>
            <a:ext cx="761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lt2"/>
                </a:solidFill>
              </a:rPr>
              <a:t>User → Assistant → Agents → MCP Tools → LLM → Actionable Result</a:t>
            </a:r>
            <a:endParaRPr b="1" sz="1300">
              <a:solidFill>
                <a:schemeClr val="lt2"/>
              </a:solidFill>
            </a:endParaRPr>
          </a:p>
        </p:txBody>
      </p:sp>
      <p:sp>
        <p:nvSpPr>
          <p:cNvPr id="126" name="Google Shape;126;p28"/>
          <p:cNvSpPr txBox="1"/>
          <p:nvPr/>
        </p:nvSpPr>
        <p:spPr>
          <a:xfrm flipH="1">
            <a:off x="649325" y="21868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Example</a:t>
            </a:r>
            <a:endParaRPr b="1" sz="1500">
              <a:solidFill>
                <a:schemeClr val="lt2"/>
              </a:solidFill>
            </a:endParaRPr>
          </a:p>
        </p:txBody>
      </p:sp>
      <p:sp>
        <p:nvSpPr>
          <p:cNvPr id="127" name="Google Shape;127;p28"/>
          <p:cNvSpPr txBox="1"/>
          <p:nvPr/>
        </p:nvSpPr>
        <p:spPr>
          <a:xfrm>
            <a:off x="720000" y="2633950"/>
            <a:ext cx="844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lt2"/>
                </a:solidFill>
              </a:rPr>
              <a:t>Input : </a:t>
            </a:r>
            <a:r>
              <a:rPr lang="en" sz="1300">
                <a:solidFill>
                  <a:schemeClr val="lt2"/>
                </a:solidFill>
              </a:rPr>
              <a:t>Check my pending tasks, consider my work preferences, and create my daily plan 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128" name="Google Shape;128;p28"/>
          <p:cNvSpPr txBox="1"/>
          <p:nvPr/>
        </p:nvSpPr>
        <p:spPr>
          <a:xfrm>
            <a:off x="720000" y="3050150"/>
            <a:ext cx="78732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</a:rPr>
              <a:t>FocusRoom does</a:t>
            </a:r>
            <a:endParaRPr b="1" sz="1300">
              <a:solidFill>
                <a:schemeClr val="lt2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" sz="1300">
                <a:solidFill>
                  <a:schemeClr val="lt2"/>
                </a:solidFill>
              </a:rPr>
              <a:t>Retrieves relevant pending tasks</a:t>
            </a:r>
            <a:endParaRPr sz="1300">
              <a:solidFill>
                <a:schemeClr val="lt2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" sz="1300">
                <a:solidFill>
                  <a:schemeClr val="lt2"/>
                </a:solidFill>
              </a:rPr>
              <a:t>Retrieves saved preferences/context</a:t>
            </a:r>
            <a:endParaRPr sz="1300">
              <a:solidFill>
                <a:schemeClr val="lt2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" sz="1300">
                <a:solidFill>
                  <a:schemeClr val="lt2"/>
                </a:solidFill>
              </a:rPr>
              <a:t>Determines priorities</a:t>
            </a:r>
            <a:endParaRPr sz="1300">
              <a:solidFill>
                <a:schemeClr val="lt2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" sz="1300">
                <a:solidFill>
                  <a:schemeClr val="lt2"/>
                </a:solidFill>
              </a:rPr>
              <a:t>Creates a Morning / Afternoon / Evening schedule</a:t>
            </a:r>
            <a:endParaRPr sz="1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719975" y="253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Layered Architecture</a:t>
            </a:r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3">
            <a:alphaModFix/>
          </a:blip>
          <a:srcRect b="0" l="0" r="0" t="11910"/>
          <a:stretch/>
        </p:blipFill>
        <p:spPr>
          <a:xfrm>
            <a:off x="253850" y="919675"/>
            <a:ext cx="8564175" cy="36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720000" y="3162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Multi-Agent System </a:t>
            </a:r>
            <a:endParaRPr/>
          </a:p>
        </p:txBody>
      </p:sp>
      <p:pic>
        <p:nvPicPr>
          <p:cNvPr id="140" name="Google Shape;140;p30"/>
          <p:cNvPicPr preferRelativeResize="0"/>
          <p:nvPr/>
        </p:nvPicPr>
        <p:blipFill rotWithShape="1">
          <a:blip r:embed="rId3">
            <a:alphaModFix/>
          </a:blip>
          <a:srcRect b="0" l="0" r="0" t="13104"/>
          <a:stretch/>
        </p:blipFill>
        <p:spPr>
          <a:xfrm>
            <a:off x="253850" y="958375"/>
            <a:ext cx="8539200" cy="365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720000" y="253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MCP Architecture and Tools</a:t>
            </a:r>
            <a:endParaRPr/>
          </a:p>
        </p:txBody>
      </p:sp>
      <p:pic>
        <p:nvPicPr>
          <p:cNvPr id="146" name="Google Shape;146;p31"/>
          <p:cNvPicPr preferRelativeResize="0"/>
          <p:nvPr/>
        </p:nvPicPr>
        <p:blipFill rotWithShape="1">
          <a:blip r:embed="rId3">
            <a:alphaModFix/>
          </a:blip>
          <a:srcRect b="0" l="0" r="0" t="7868"/>
          <a:stretch/>
        </p:blipFill>
        <p:spPr>
          <a:xfrm>
            <a:off x="266325" y="911625"/>
            <a:ext cx="8551699" cy="369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720000" y="253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Daily Planning Workflow </a:t>
            </a:r>
            <a:endParaRPr/>
          </a:p>
        </p:txBody>
      </p:sp>
      <p:grpSp>
        <p:nvGrpSpPr>
          <p:cNvPr id="152" name="Google Shape;152;p32"/>
          <p:cNvGrpSpPr/>
          <p:nvPr/>
        </p:nvGrpSpPr>
        <p:grpSpPr>
          <a:xfrm>
            <a:off x="785962" y="3592160"/>
            <a:ext cx="320369" cy="245580"/>
            <a:chOff x="2567841" y="1994124"/>
            <a:chExt cx="399812" cy="306477"/>
          </a:xfrm>
        </p:grpSpPr>
        <p:sp>
          <p:nvSpPr>
            <p:cNvPr id="153" name="Google Shape;153;p32"/>
            <p:cNvSpPr/>
            <p:nvPr/>
          </p:nvSpPr>
          <p:spPr>
            <a:xfrm>
              <a:off x="2567841" y="1994124"/>
              <a:ext cx="399812" cy="306477"/>
            </a:xfrm>
            <a:custGeom>
              <a:rect b="b" l="l" r="r" t="t"/>
              <a:pathLst>
                <a:path extrusionOk="0" h="9621" w="12551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2"/>
            <p:cNvSpPr/>
            <p:nvPr/>
          </p:nvSpPr>
          <p:spPr>
            <a:xfrm>
              <a:off x="2623237" y="2113963"/>
              <a:ext cx="287523" cy="77025"/>
            </a:xfrm>
            <a:custGeom>
              <a:rect b="b" l="l" r="r" t="t"/>
              <a:pathLst>
                <a:path extrusionOk="0" h="2418" w="9026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2"/>
            <p:cNvSpPr/>
            <p:nvPr/>
          </p:nvSpPr>
          <p:spPr>
            <a:xfrm>
              <a:off x="2623237" y="2017251"/>
              <a:ext cx="287523" cy="77025"/>
            </a:xfrm>
            <a:custGeom>
              <a:rect b="b" l="l" r="r" t="t"/>
              <a:pathLst>
                <a:path extrusionOk="0" h="2418" w="9026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32"/>
          <p:cNvSpPr/>
          <p:nvPr/>
        </p:nvSpPr>
        <p:spPr>
          <a:xfrm>
            <a:off x="8039587" y="2144580"/>
            <a:ext cx="320341" cy="261090"/>
          </a:xfrm>
          <a:custGeom>
            <a:rect b="b" l="l" r="r" t="t"/>
            <a:pathLst>
              <a:path extrusionOk="0" h="9734" w="11943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32"/>
          <p:cNvPicPr preferRelativeResize="0"/>
          <p:nvPr/>
        </p:nvPicPr>
        <p:blipFill rotWithShape="1">
          <a:blip r:embed="rId3">
            <a:alphaModFix/>
          </a:blip>
          <a:srcRect b="0" l="0" r="0" t="6385"/>
          <a:stretch/>
        </p:blipFill>
        <p:spPr>
          <a:xfrm>
            <a:off x="278825" y="932150"/>
            <a:ext cx="8514225" cy="36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/>
          <p:nvPr>
            <p:ph type="title"/>
          </p:nvPr>
        </p:nvSpPr>
        <p:spPr>
          <a:xfrm>
            <a:off x="720000" y="253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Token Optimization &amp; Cost Reduction </a:t>
            </a:r>
            <a:endParaRPr/>
          </a:p>
        </p:txBody>
      </p:sp>
      <p:sp>
        <p:nvSpPr>
          <p:cNvPr id="163" name="Google Shape;163;p33"/>
          <p:cNvSpPr txBox="1"/>
          <p:nvPr/>
        </p:nvSpPr>
        <p:spPr>
          <a:xfrm flipH="1">
            <a:off x="1589700" y="982100"/>
            <a:ext cx="669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Reduce unnecessary context and LLM calls while preserving planning quality.</a:t>
            </a:r>
            <a:endParaRPr b="1" sz="1100">
              <a:solidFill>
                <a:schemeClr val="lt2"/>
              </a:solidFill>
            </a:endParaRPr>
          </a:p>
        </p:txBody>
      </p:sp>
      <p:sp>
        <p:nvSpPr>
          <p:cNvPr id="164" name="Google Shape;164;p33"/>
          <p:cNvSpPr txBox="1"/>
          <p:nvPr/>
        </p:nvSpPr>
        <p:spPr>
          <a:xfrm>
            <a:off x="499375" y="1603525"/>
            <a:ext cx="1727100" cy="2555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Before 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All Tasks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Memories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Descriptions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Verbose JSON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LLM Call                                                                 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65" name="Google Shape;165;p33"/>
          <p:cNvSpPr txBox="1"/>
          <p:nvPr/>
        </p:nvSpPr>
        <p:spPr>
          <a:xfrm>
            <a:off x="2366638" y="1603525"/>
            <a:ext cx="9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───►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3473400" y="1603525"/>
            <a:ext cx="2197200" cy="2555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Optimization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Filter Tasks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Top 5 Memories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Compact JSON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Deterministic Routing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Max_tokens = 40000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67" name="Google Shape;167;p33"/>
          <p:cNvSpPr txBox="1"/>
          <p:nvPr/>
        </p:nvSpPr>
        <p:spPr>
          <a:xfrm>
            <a:off x="5810750" y="1603525"/>
            <a:ext cx="7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───►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68" name="Google Shape;168;p33"/>
          <p:cNvSpPr txBox="1"/>
          <p:nvPr/>
        </p:nvSpPr>
        <p:spPr>
          <a:xfrm>
            <a:off x="6995325" y="1603525"/>
            <a:ext cx="1756200" cy="1262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After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Relevant Context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Smaller Prompt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69" name="Google Shape;169;p33"/>
          <p:cNvSpPr txBox="1"/>
          <p:nvPr/>
        </p:nvSpPr>
        <p:spPr>
          <a:xfrm>
            <a:off x="1332400" y="4408425"/>
            <a:ext cx="647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1,467 tokens ──────► 186 tokens ≈ 87% ↓ </a:t>
            </a:r>
            <a:endParaRPr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720000" y="253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Telemetry &amp; Observability </a:t>
            </a:r>
            <a:endParaRPr/>
          </a:p>
        </p:txBody>
      </p:sp>
      <p:sp>
        <p:nvSpPr>
          <p:cNvPr id="175" name="Google Shape;175;p34"/>
          <p:cNvSpPr txBox="1"/>
          <p:nvPr/>
        </p:nvSpPr>
        <p:spPr>
          <a:xfrm>
            <a:off x="226200" y="1032450"/>
            <a:ext cx="89178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AI Token Tracking</a:t>
            </a:r>
            <a:r>
              <a:rPr lang="en">
                <a:solidFill>
                  <a:schemeClr val="lt2"/>
                </a:solidFill>
              </a:rPr>
              <a:t> – records prompt, completion, and total tokens for each LLM operation.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Operation-Level Usage</a:t>
            </a:r>
            <a:r>
              <a:rPr lang="en">
                <a:solidFill>
                  <a:schemeClr val="lt2"/>
                </a:solidFill>
              </a:rPr>
              <a:t> – separates usage by operations such as supervisor_decision and planning_request.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Execution Tracking</a:t>
            </a:r>
            <a:r>
              <a:rPr lang="en">
                <a:solidFill>
                  <a:schemeClr val="lt2"/>
                </a:solidFill>
              </a:rPr>
              <a:t> – assigns each request an execution_id.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Agent Execution Trace</a:t>
            </a:r>
            <a:r>
              <a:rPr lang="en">
                <a:solidFill>
                  <a:schemeClr val="lt2"/>
                </a:solidFill>
              </a:rPr>
              <a:t> – records the sequence of Supervisor → Agents → MCP → LLM → Result.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MCP Traffic Monitoring</a:t>
            </a:r>
            <a:r>
              <a:rPr lang="en">
                <a:solidFill>
                  <a:schemeClr val="lt2"/>
                </a:solidFill>
              </a:rPr>
              <a:t> – tracks MCP request/response counts and transferred bytes.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Tool-Level Visibility</a:t>
            </a:r>
            <a:r>
              <a:rPr lang="en">
                <a:solidFill>
                  <a:schemeClr val="lt2"/>
                </a:solidFill>
              </a:rPr>
              <a:t> – identifies which MCP tools were called during an execution.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Persistent Telemetry</a:t>
            </a:r>
            <a:r>
              <a:rPr lang="en">
                <a:solidFill>
                  <a:schemeClr val="lt2"/>
                </a:solidFill>
              </a:rPr>
              <a:t> – stores AI and MCP metrics in SQLite for later analysis.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Current Execution Monitoring</a:t>
            </a:r>
            <a:r>
              <a:rPr lang="en">
                <a:solidFill>
                  <a:schemeClr val="lt2"/>
                </a:solidFill>
              </a:rPr>
              <a:t> – displays token and MCP activity for the active request.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720000" y="175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Technical Implementation &amp; Results </a:t>
            </a:r>
            <a:endParaRPr/>
          </a:p>
        </p:txBody>
      </p:sp>
      <p:sp>
        <p:nvSpPr>
          <p:cNvPr id="181" name="Google Shape;181;p35"/>
          <p:cNvSpPr txBox="1"/>
          <p:nvPr/>
        </p:nvSpPr>
        <p:spPr>
          <a:xfrm>
            <a:off x="424450" y="1085575"/>
            <a:ext cx="8430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Technology Stack :</a:t>
            </a:r>
            <a:r>
              <a:rPr lang="en">
                <a:solidFill>
                  <a:schemeClr val="lt2"/>
                </a:solidFill>
              </a:rPr>
              <a:t> Python, Streamlit, Groq LLM, SQLite, MCP, SMTP/Email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Core Components : </a:t>
            </a:r>
            <a:r>
              <a:rPr lang="en">
                <a:solidFill>
                  <a:schemeClr val="lt2"/>
                </a:solidFill>
              </a:rPr>
              <a:t>Supervisor, Task Agent, Memory Agent, Planning Agent, Reminder Worker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Implementation Results : </a:t>
            </a:r>
            <a:r>
              <a:rPr lang="en">
                <a:solidFill>
                  <a:schemeClr val="lt2"/>
                </a:solidFill>
              </a:rPr>
              <a:t>Multi-agent orchestration working, MCP tools integrated, Persistent tasks &amp; memory storage, AI token telemetry implemented, MCP transport telemetry implemented, Execution tracing implemented, Prompt optimization implemented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Testing : </a:t>
            </a:r>
            <a:r>
              <a:rPr lang="en">
                <a:solidFill>
                  <a:schemeClr val="lt2"/>
                </a:solidFill>
              </a:rPr>
              <a:t>Unit/integration tests, Python compilation checks, MCP/tool execution verification  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720000" y="253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/>
              <a:t>Challenges, Future Scope &amp; Conclusion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6"/>
          <p:cNvSpPr txBox="1"/>
          <p:nvPr/>
        </p:nvSpPr>
        <p:spPr>
          <a:xfrm>
            <a:off x="299625" y="774025"/>
            <a:ext cx="89679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🔧 Challenges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Token Optimization</a:t>
            </a:r>
            <a:r>
              <a:rPr lang="en" sz="1200">
                <a:solidFill>
                  <a:schemeClr val="lt2"/>
                </a:solidFill>
              </a:rPr>
              <a:t> — controlling LLM usage and prompt size.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Multi-Agent Coordination</a:t>
            </a:r>
            <a:r>
              <a:rPr lang="en" sz="1200">
                <a:solidFill>
                  <a:schemeClr val="lt2"/>
                </a:solidFill>
              </a:rPr>
              <a:t> — routing requests to the correct specialized agents.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MCP Reliability</a:t>
            </a:r>
            <a:r>
              <a:rPr lang="en" sz="1200">
                <a:solidFill>
                  <a:schemeClr val="lt2"/>
                </a:solidFill>
              </a:rPr>
              <a:t> — handling tool calls, transport and response tracking.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Observability</a:t>
            </a:r>
            <a:r>
              <a:rPr lang="en" sz="1200">
                <a:solidFill>
                  <a:schemeClr val="lt2"/>
                </a:solidFill>
              </a:rPr>
              <a:t> — tracing complex executions across agents, MCP and LLM calls.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88" name="Google Shape;188;p36"/>
          <p:cNvSpPr txBox="1"/>
          <p:nvPr/>
        </p:nvSpPr>
        <p:spPr>
          <a:xfrm>
            <a:off x="299625" y="2405725"/>
            <a:ext cx="8368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🚀 Future Scope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A2A Protocol Integration</a:t>
            </a:r>
            <a:r>
              <a:rPr lang="en" sz="1200">
                <a:solidFill>
                  <a:schemeClr val="lt2"/>
                </a:solidFill>
              </a:rPr>
              <a:t> — enable standardized agent-to-agent communication.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Agent Discovery</a:t>
            </a:r>
            <a:r>
              <a:rPr lang="en" sz="1200">
                <a:solidFill>
                  <a:schemeClr val="lt2"/>
                </a:solidFill>
              </a:rPr>
              <a:t> — allow agents to discover available capabilities dynamically.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Better Parallelization</a:t>
            </a:r>
            <a:r>
              <a:rPr lang="en" sz="1200">
                <a:solidFill>
                  <a:schemeClr val="lt2"/>
                </a:solidFill>
              </a:rPr>
              <a:t> — execute independent agent tasks concurrently.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Caching</a:t>
            </a:r>
            <a:r>
              <a:rPr lang="en" sz="1200">
                <a:solidFill>
                  <a:schemeClr val="lt2"/>
                </a:solidFill>
              </a:rPr>
              <a:t> — reduce repeated LLM and database operations.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89" name="Google Shape;189;p36"/>
          <p:cNvSpPr txBox="1"/>
          <p:nvPr/>
        </p:nvSpPr>
        <p:spPr>
          <a:xfrm flipH="1">
            <a:off x="175500" y="3982800"/>
            <a:ext cx="8793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🎯 Conclusion</a:t>
            </a:r>
            <a:endParaRPr b="1" sz="1200">
              <a:solidFill>
                <a:schemeClr val="lt2"/>
              </a:solidFill>
            </a:endParaRPr>
          </a:p>
          <a:p>
            <a:pPr indent="0" lvl="0" marL="38100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lt2"/>
                </a:solidFill>
              </a:rPr>
              <a:t>FocusRoom transforms traditional task management into an intelligent, A-aware productivity system by combining Multi-Agent Orchestration, MCP tools, memory, AI planning, automation, and observability.</a:t>
            </a:r>
            <a:endParaRPr b="1"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